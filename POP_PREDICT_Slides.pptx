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103120"/>
            <a:ext cx="12024360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POP-PREDICT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6EEF5"/>
                </a:solidFill>
                <a:latin typeface="Calibri"/>
              </a:rPr>
              <a:t>A Point-Based Clinical Risk Calculator
for POP Surgical Recurrence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5247" y="3474720"/>
            <a:ext cx="3154680" cy="50292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247" y="349300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75623"/>
                </a:solidFill>
                <a:latin typeface="Calibri"/>
              </a:rPr>
              <a:t>LOW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3474720"/>
            <a:ext cx="3154680" cy="502920"/>
          </a:xfrm>
          <a:prstGeom prst="rect">
            <a:avLst/>
          </a:prstGeom>
          <a:solidFill>
            <a:srgbClr val="FFE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5647" y="349300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D4F00"/>
                </a:solidFill>
                <a:latin typeface="Calibri"/>
              </a:rPr>
              <a:t>MODERATE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6047" y="3474720"/>
            <a:ext cx="3154680" cy="50292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6047" y="3493008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C0006"/>
                </a:solidFill>
                <a:latin typeface="Calibri"/>
              </a:rPr>
              <a:t>HIGH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Sullivan M  ·  Kim S  ·  El Haraki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EF5"/>
                </a:solidFill>
                <a:latin typeface="Calibri"/>
              </a:rPr>
              <a:t>Atrium Health Wake Forest Baptist  ·  AUGS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EF5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371600"/>
            <a:ext cx="3291840" cy="25603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554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6B8A"/>
                </a:solidFill>
                <a:latin typeface="Calibri"/>
              </a:rPr>
              <a:t>1 in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parous women
affected by POP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9927" y="1371600"/>
            <a:ext cx="3291840" cy="25603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9927" y="1554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6B8A"/>
                </a:solidFill>
                <a:latin typeface="Calibri"/>
              </a:rPr>
              <a:t>200,000+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prolapse surgeries
per year in the U.S.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7527" y="1371600"/>
            <a:ext cx="3291840" cy="25603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7527" y="1554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A6B8A"/>
                </a:solidFill>
                <a:latin typeface="Calibri"/>
              </a:rPr>
              <a:t>15–40%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26517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recurrence risk
depending on procedure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11277295" cy="73152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3159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C0006"/>
                </a:solidFill>
                <a:latin typeface="Calibri"/>
              </a:rPr>
              <a:t>Wide variability in recurrence risk — yet counseling remains one-size-fits-all.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663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2"/>
                </a:solidFill>
                <a:latin typeface="Calibri"/>
              </a:rPr>
              <a:t>Rates vary by surgical approach, anatomy, and patient characteristics — but no tool exists to quantify individual risk preoperatively.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Medicine Already Does This Well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471" y="1280160"/>
            <a:ext cx="3200400" cy="246888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1471" y="1280160"/>
            <a:ext cx="320040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12984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Caprini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4057"/>
                </a:solidFill>
                <a:latin typeface="Calibri"/>
              </a:rPr>
              <a:t>VTE risk
after surgery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471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2"/>
                </a:solidFill>
                <a:latin typeface="Calibri"/>
              </a:rPr>
              <a:t>Validated globally
for surgical patients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5647" y="1280160"/>
            <a:ext cx="3200400" cy="246888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647" y="1280160"/>
            <a:ext cx="320040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12984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CHA₂DS₂-VASc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4057"/>
                </a:solidFill>
                <a:latin typeface="Calibri"/>
              </a:rPr>
              <a:t>Stroke risk
in atrial fibrillation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2"/>
                </a:solidFill>
                <a:latin typeface="Calibri"/>
              </a:rPr>
              <a:t>Guides anticoagulation
decisions worldwide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9823" y="1280160"/>
            <a:ext cx="3200400" cy="246888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9823" y="1280160"/>
            <a:ext cx="320040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9823" y="129844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VBAC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9823" y="1874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4057"/>
                </a:solidFill>
                <a:latin typeface="Calibri"/>
              </a:rPr>
              <a:t>Success probability
for trial of labor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9823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572"/>
                </a:solidFill>
                <a:latin typeface="Calibri"/>
              </a:rPr>
              <a:t>Used routinely in
OB counseling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6B8A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434840"/>
            <a:ext cx="9448495" cy="6858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453128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No equivalent tool exists for POP surgical recurrence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2"/>
                </a:solidFill>
                <a:latin typeface="Calibri"/>
              </a:rPr>
              <a:t>We addressed this gap with a validated point-based score derived from individual patient data across 4 prospective trials.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We Built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187" y="1463040"/>
            <a:ext cx="2468880" cy="20116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187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 Trials
752 Women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2423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ALTIS · BEST
EPACT · SASS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4067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2667" y="1463040"/>
            <a:ext cx="2468880" cy="201168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2667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Logistic
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2667" y="2423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AIC backward
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547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463040"/>
            <a:ext cx="2468880" cy="20116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0147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β →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147" y="2423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Coefficients
scaled to integers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9027" y="2240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6B8A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7627" y="1463040"/>
            <a:ext cx="2468880" cy="20116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7627" y="1645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POP-PREDICT
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627" y="2423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0–7 pts
Ready for clinic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77295" cy="265176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4057"/>
                </a:solidFill>
                <a:latin typeface="Calibri"/>
              </a:rPr>
              <a:t>Why Logistic Regression for a Point Score?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4057"/>
                </a:solidFill>
                <a:latin typeface="Calibri"/>
              </a:rPr>
              <a:t>•  β coefficients = log-odds contribution of each predictor — directly proportional to recurrence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3717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4057"/>
                </a:solidFill>
                <a:latin typeface="Calibri"/>
              </a:rPr>
              <a:t>•  Scaling β values to integers preserves the relative weights between predictors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3095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4057"/>
                </a:solidFill>
                <a:latin typeface="Calibri"/>
              </a:rPr>
              <a:t>•  This method is how all major clinical scores are derived: Caprini, Framingham, CHA₂DS₂-VASc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247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4057"/>
                </a:solidFill>
                <a:latin typeface="Calibri"/>
              </a:rPr>
              <a:t>•  Result: a score clinicians can calculate in 30 seconds without a computer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POP-PREDICT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760720" cy="402336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289304"/>
            <a:ext cx="20007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Risk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7635" y="1289304"/>
            <a:ext cx="2807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7995" y="1289304"/>
            <a:ext cx="7333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2064715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645920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4057"/>
                </a:solidFill>
                <a:latin typeface="Calibri"/>
              </a:rPr>
              <a:t>Surgical Approach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1059" y="1636776"/>
            <a:ext cx="287121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7635" y="164592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Colpocleisis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1419" y="1636776"/>
            <a:ext cx="79735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7995" y="1645920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39112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048255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531059" y="2039112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7635" y="2048255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Sacrocolpopexy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1419" y="2039112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7995" y="2048255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41448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2450591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531059" y="2441448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7635" y="2450591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Native Tissue Repair (USLS / SSLF)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1419" y="2441448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7995" y="2450591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43784"/>
            <a:ext cx="2064715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" y="2852928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4057"/>
                </a:solidFill>
                <a:latin typeface="Calibri"/>
              </a:rPr>
              <a:t>Ba Point (Ant. Wall)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31059" y="2843784"/>
            <a:ext cx="287121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7635" y="2852928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&lt; 0 cm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1419" y="2843784"/>
            <a:ext cx="79735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7995" y="2852928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46120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3255263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2531059" y="3246120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7635" y="3255263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0 – 3 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11419" y="3246120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7995" y="3255263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648456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3657600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2531059" y="3648456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7635" y="365760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≥ 4 cm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11419" y="3648456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7995" y="3657600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050791"/>
            <a:ext cx="2064715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4059935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4057"/>
                </a:solidFill>
                <a:latin typeface="Calibri"/>
              </a:rPr>
              <a:t>Genital Hiatus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31059" y="4050791"/>
            <a:ext cx="287121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7635" y="4059935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≤ 3 cm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11419" y="4050791"/>
            <a:ext cx="79735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7995" y="4059935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453128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3776" y="4462272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2531059" y="4453128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7635" y="4462272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4 – 5 cm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11419" y="4453128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7995" y="4462272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855464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" y="4864608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531059" y="4855464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7635" y="4864608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≥ 6 cm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11419" y="4855464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7995" y="4864608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257800"/>
            <a:ext cx="2064715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" y="5266944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4057"/>
                </a:solidFill>
                <a:latin typeface="Calibri"/>
              </a:rPr>
              <a:t>Hormonal Status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31059" y="5257800"/>
            <a:ext cx="287121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7635" y="5266944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Pre-menopausal or on estrogen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11419" y="5257800"/>
            <a:ext cx="797356" cy="402336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47995" y="5266944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660136"/>
            <a:ext cx="2064715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3776" y="5669280"/>
            <a:ext cx="20007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531059" y="5660136"/>
            <a:ext cx="287121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67635" y="5669280"/>
            <a:ext cx="2807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4057"/>
                </a:solidFill>
                <a:latin typeface="Calibri"/>
              </a:rPr>
              <a:t>Postmenopausal, no HRT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11419" y="5660136"/>
            <a:ext cx="797356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47995" y="5669280"/>
            <a:ext cx="7333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4057"/>
                </a:solidFill>
                <a:latin typeface="Calibri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062472"/>
            <a:ext cx="5760720" cy="402336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6117336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SCORE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49524" y="6117336"/>
            <a:ext cx="2880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B8A"/>
                </a:solidFill>
                <a:latin typeface="Calibri"/>
              </a:rPr>
              <a:t>_____ / 7 pts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680" y="1234440"/>
            <a:ext cx="5242255" cy="9144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0" y="1280160"/>
            <a:ext cx="52422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6B8A"/>
                </a:solidFill>
                <a:latin typeface="Calibri"/>
              </a:rPr>
              <a:t>AUC  0.67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0" y="1709928"/>
            <a:ext cx="52422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validated across 4 trials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0" y="2377440"/>
            <a:ext cx="5242255" cy="1005840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0" y="2414016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75623"/>
                </a:solidFill>
                <a:latin typeface="Calibri"/>
              </a:rPr>
              <a:t>LOW RISK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2852928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75623"/>
                </a:solidFill>
                <a:latin typeface="Calibri"/>
              </a:rPr>
              <a:t>0–2 pts  →  8–17% recurrence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0" y="3493008"/>
            <a:ext cx="5242255" cy="1005840"/>
          </a:xfrm>
          <a:prstGeom prst="rect">
            <a:avLst/>
          </a:prstGeom>
          <a:solidFill>
            <a:srgbClr val="FFE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3529584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D4F00"/>
                </a:solidFill>
                <a:latin typeface="Calibri"/>
              </a:rPr>
              <a:t>MODERATE RISK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3680" y="3968496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D4F00"/>
                </a:solidFill>
                <a:latin typeface="Calibri"/>
              </a:rPr>
              <a:t>3–4 pts  →  21–28% recurrence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83680" y="4608576"/>
            <a:ext cx="5242255" cy="1005840"/>
          </a:xfrm>
          <a:prstGeom prst="rect">
            <a:avLst/>
          </a:prstGeom>
          <a:solidFill>
            <a:srgbClr val="FFC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83680" y="4645152"/>
            <a:ext cx="5242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C0006"/>
                </a:solidFill>
                <a:latin typeface="Calibri"/>
              </a:rPr>
              <a:t>HIGH RISK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83680" y="5084064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0006"/>
                </a:solidFill>
                <a:latin typeface="Calibri"/>
              </a:rPr>
              <a:t>5–7 pts  →  40–45% recurrence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Try It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65836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583680" cy="50292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9304"/>
            <a:ext cx="6400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POP-PREDICT Score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4057"/>
                </a:solidFill>
                <a:latin typeface="Calibri"/>
              </a:rPr>
              <a:t>Surgical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21992"/>
            <a:ext cx="630936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1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2"/>
                </a:solidFill>
                <a:latin typeface="Calibri"/>
              </a:rPr>
              <a:t>Sacrocolpopexy — 1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0048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4057"/>
                </a:solidFill>
                <a:latin typeface="Calibri"/>
              </a:rPr>
              <a:t>Baseline Ba 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971800"/>
            <a:ext cx="630936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1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8094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2"/>
                </a:solidFill>
                <a:latin typeface="Calibri"/>
              </a:rPr>
              <a:t>0 to 3 cm — 1 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19856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4057"/>
                </a:solidFill>
                <a:latin typeface="Calibri"/>
              </a:rPr>
              <a:t>Genital Hiatus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21608"/>
            <a:ext cx="630936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1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3075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2"/>
                </a:solidFill>
                <a:latin typeface="Calibri"/>
              </a:rPr>
              <a:t>4 to 5 cm — 1 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69664"/>
            <a:ext cx="2633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4057"/>
                </a:solidFill>
                <a:latin typeface="Calibri"/>
              </a:rPr>
              <a:t>Hormonal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471416"/>
            <a:ext cx="630936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1A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2"/>
                </a:solidFill>
                <a:latin typeface="Calibri"/>
              </a:rPr>
              <a:t>Postmenopausal, no HRT — 1 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983479"/>
            <a:ext cx="6309360" cy="13716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292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TOTAL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A6B8A"/>
                </a:solidFill>
                <a:latin typeface="Calibri"/>
              </a:rPr>
              <a:t>4 /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897879"/>
            <a:ext cx="3840480" cy="347472"/>
          </a:xfrm>
          <a:prstGeom prst="rect">
            <a:avLst/>
          </a:prstGeom>
          <a:solidFill>
            <a:srgbClr val="FFE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5916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D4F00"/>
                </a:solidFill>
                <a:latin typeface="Calibri"/>
              </a:rPr>
              <a:t>MODERATE RISK  •  21–28%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1417320"/>
            <a:ext cx="4327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4057"/>
                </a:solidFill>
                <a:latin typeface="Calibri"/>
              </a:rPr>
              <a:t>Scan or Visit: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920240"/>
            <a:ext cx="3596335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920240"/>
            <a:ext cx="359633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572"/>
                </a:solidFill>
                <a:latin typeface="Calibri"/>
              </a:rPr>
              <a:t>[ QR Code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651760"/>
            <a:ext cx="3596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572"/>
                </a:solidFill>
                <a:latin typeface="Calibri"/>
              </a:rPr>
              <a:t>Insert QR code
for URL below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4663440"/>
            <a:ext cx="4327855" cy="50292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663440"/>
            <a:ext cx="4327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E4057"/>
                </a:solidFill>
                <a:latin typeface="Calibri"/>
              </a:rPr>
              <a:t>mesullivan01.github.io/
POP_Recurrence_Calculator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303520"/>
            <a:ext cx="4327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2"/>
                </a:solidFill>
                <a:latin typeface="Calibri"/>
              </a:rPr>
              <a:t>Free · No login · Works on any 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806440"/>
            <a:ext cx="43278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4057"/>
                </a:solidFill>
                <a:latin typeface="Calibri"/>
              </a:rPr>
              <a:t>Share with colleagues →
calculate in clinic, in 30 seconds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097280"/>
            <a:ext cx="12024360" cy="457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898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First validated point-based calculator for POP surgical recurrence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013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EF5"/>
                </a:solidFill>
                <a:latin typeface="Calibri"/>
              </a:rPr>
              <a:t>Derived from 752 patients across 4 prospective trials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24327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4 simple inputs. 30 seconds. Actionable risk category.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EF5"/>
                </a:solidFill>
                <a:latin typeface="Calibri"/>
              </a:rPr>
              <a:t>Surgery type · Ba point · Genital hiatus · Hormonal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587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Consistent discrimination across internal and external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702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EF5"/>
                </a:solidFill>
                <a:latin typeface="Calibri"/>
              </a:rPr>
              <a:t>AUC 0.67 full cohort  ·  0.64 cross-validation  ·  0.55–0.66 LODO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0292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932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Supports shared decision-making before the 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046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EF5"/>
                </a:solidFill>
                <a:latin typeface="Calibri"/>
              </a:rPr>
              <a:t>Identify patients who may benefit from mesh repair or closer surveillance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6EEF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